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60" r:id="rId4"/>
    <p:sldId id="262" r:id="rId5"/>
    <p:sldId id="263" r:id="rId6"/>
    <p:sldId id="265" r:id="rId7"/>
    <p:sldId id="266" r:id="rId8"/>
    <p:sldId id="267" r:id="rId9"/>
    <p:sldId id="268" r:id="rId10"/>
    <p:sldId id="270" r:id="rId11"/>
    <p:sldId id="271" r:id="rId12"/>
    <p:sldId id="272" r:id="rId13"/>
    <p:sldId id="273" r:id="rId14"/>
    <p:sldId id="274" r:id="rId15"/>
    <p:sldId id="275" r:id="rId16"/>
    <p:sldId id="259" r:id="rId17"/>
  </p:sldIdLst>
  <p:sldSz cx="12192000" cy="6858000"/>
  <p:notesSz cx="6858000" cy="9144000"/>
  <p:embeddedFontLst>
    <p:embeddedFont>
      <p:font typeface="Libre Baskerville" panose="02000000000000000000" pitchFamily="2" charset="0"/>
      <p:regular r:id="rId19"/>
      <p:bold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9C39F6-A98D-41F3-8258-FC93CFA5249B}" v="4" dt="2025-12-02T13:22:54.4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shma Sk" userId="9dece501a0db5be2" providerId="LiveId" clId="{9A4E38B1-EA7E-481F-9682-EFBB298D9FA0}"/>
    <pc:docChg chg="undo custSel addSld delSld modSld">
      <pc:chgData name="Reshma Sk" userId="9dece501a0db5be2" providerId="LiveId" clId="{9A4E38B1-EA7E-481F-9682-EFBB298D9FA0}" dt="2025-12-02T13:23:18.397" v="308" actId="14100"/>
      <pc:docMkLst>
        <pc:docMk/>
      </pc:docMkLst>
      <pc:sldChg chg="modSp mod">
        <pc:chgData name="Reshma Sk" userId="9dece501a0db5be2" providerId="LiveId" clId="{9A4E38B1-EA7E-481F-9682-EFBB298D9FA0}" dt="2025-12-02T12:59:30.952" v="146" actId="400"/>
        <pc:sldMkLst>
          <pc:docMk/>
          <pc:sldMk cId="0" sldId="256"/>
        </pc:sldMkLst>
        <pc:spChg chg="mod">
          <ac:chgData name="Reshma Sk" userId="9dece501a0db5be2" providerId="LiveId" clId="{9A4E38B1-EA7E-481F-9682-EFBB298D9FA0}" dt="2025-12-02T12:59:30.952" v="146" actId="400"/>
          <ac:spMkLst>
            <pc:docMk/>
            <pc:sldMk cId="0" sldId="256"/>
            <ac:spMk id="99" creationId="{00000000-0000-0000-0000-000000000000}"/>
          </ac:spMkLst>
        </pc:spChg>
      </pc:sldChg>
      <pc:sldChg chg="del">
        <pc:chgData name="Reshma Sk" userId="9dece501a0db5be2" providerId="LiveId" clId="{9A4E38B1-EA7E-481F-9682-EFBB298D9FA0}" dt="2025-12-02T13:02:02.372" v="147" actId="47"/>
        <pc:sldMkLst>
          <pc:docMk/>
          <pc:sldMk cId="0" sldId="257"/>
        </pc:sldMkLst>
      </pc:sldChg>
      <pc:sldChg chg="modSp mod">
        <pc:chgData name="Reshma Sk" userId="9dece501a0db5be2" providerId="LiveId" clId="{9A4E38B1-EA7E-481F-9682-EFBB298D9FA0}" dt="2025-12-02T13:06:32.382" v="272" actId="14100"/>
        <pc:sldMkLst>
          <pc:docMk/>
          <pc:sldMk cId="0" sldId="258"/>
        </pc:sldMkLst>
        <pc:spChg chg="mod">
          <ac:chgData name="Reshma Sk" userId="9dece501a0db5be2" providerId="LiveId" clId="{9A4E38B1-EA7E-481F-9682-EFBB298D9FA0}" dt="2025-12-02T13:06:27.697" v="271" actId="14100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Reshma Sk" userId="9dece501a0db5be2" providerId="LiveId" clId="{9A4E38B1-EA7E-481F-9682-EFBB298D9FA0}" dt="2025-12-02T13:06:32.382" v="272" actId="14100"/>
          <ac:spMkLst>
            <pc:docMk/>
            <pc:sldMk cId="0" sldId="258"/>
            <ac:spMk id="111" creationId="{00000000-0000-0000-0000-000000000000}"/>
          </ac:spMkLst>
        </pc:spChg>
      </pc:sldChg>
      <pc:sldChg chg="modSp mod">
        <pc:chgData name="Reshma Sk" userId="9dece501a0db5be2" providerId="LiveId" clId="{9A4E38B1-EA7E-481F-9682-EFBB298D9FA0}" dt="2025-12-02T13:07:02.713" v="297" actId="20577"/>
        <pc:sldMkLst>
          <pc:docMk/>
          <pc:sldMk cId="1828576467" sldId="260"/>
        </pc:sldMkLst>
        <pc:spChg chg="mod">
          <ac:chgData name="Reshma Sk" userId="9dece501a0db5be2" providerId="LiveId" clId="{9A4E38B1-EA7E-481F-9682-EFBB298D9FA0}" dt="2025-12-02T13:07:02.713" v="297" actId="20577"/>
          <ac:spMkLst>
            <pc:docMk/>
            <pc:sldMk cId="1828576467" sldId="260"/>
            <ac:spMk id="3" creationId="{EC3668C7-AA70-D8A3-3FEA-546A398B1D34}"/>
          </ac:spMkLst>
        </pc:spChg>
      </pc:sldChg>
      <pc:sldChg chg="modSp mod">
        <pc:chgData name="Reshma Sk" userId="9dece501a0db5be2" providerId="LiveId" clId="{9A4E38B1-EA7E-481F-9682-EFBB298D9FA0}" dt="2025-12-02T13:07:53.366" v="298" actId="1076"/>
        <pc:sldMkLst>
          <pc:docMk/>
          <pc:sldMk cId="4082732983" sldId="263"/>
        </pc:sldMkLst>
        <pc:picChg chg="mod">
          <ac:chgData name="Reshma Sk" userId="9dece501a0db5be2" providerId="LiveId" clId="{9A4E38B1-EA7E-481F-9682-EFBB298D9FA0}" dt="2025-12-02T13:07:53.366" v="298" actId="1076"/>
          <ac:picMkLst>
            <pc:docMk/>
            <pc:sldMk cId="4082732983" sldId="263"/>
            <ac:picMk id="6" creationId="{B2BD550A-3060-F40C-1608-289D5DA60F8C}"/>
          </ac:picMkLst>
        </pc:picChg>
      </pc:sldChg>
      <pc:sldChg chg="addSp delSp modSp mod">
        <pc:chgData name="Reshma Sk" userId="9dece501a0db5be2" providerId="LiveId" clId="{9A4E38B1-EA7E-481F-9682-EFBB298D9FA0}" dt="2025-12-02T13:23:18.397" v="308" actId="14100"/>
        <pc:sldMkLst>
          <pc:docMk/>
          <pc:sldMk cId="1168270914" sldId="267"/>
        </pc:sldMkLst>
        <pc:spChg chg="mod">
          <ac:chgData name="Reshma Sk" userId="9dece501a0db5be2" providerId="LiveId" clId="{9A4E38B1-EA7E-481F-9682-EFBB298D9FA0}" dt="2025-12-02T13:22:54.497" v="304"/>
          <ac:spMkLst>
            <pc:docMk/>
            <pc:sldMk cId="1168270914" sldId="267"/>
            <ac:spMk id="2" creationId="{4B818E4B-9AA3-6877-99A4-6CD6586B3904}"/>
          </ac:spMkLst>
        </pc:spChg>
        <pc:picChg chg="del">
          <ac:chgData name="Reshma Sk" userId="9dece501a0db5be2" providerId="LiveId" clId="{9A4E38B1-EA7E-481F-9682-EFBB298D9FA0}" dt="2025-12-02T13:11:04.739" v="299" actId="478"/>
          <ac:picMkLst>
            <pc:docMk/>
            <pc:sldMk cId="1168270914" sldId="267"/>
            <ac:picMk id="7" creationId="{46C425BA-10DE-3FBE-2CB7-688CB6CA1D20}"/>
          </ac:picMkLst>
        </pc:picChg>
        <pc:picChg chg="add del mod">
          <ac:chgData name="Reshma Sk" userId="9dece501a0db5be2" providerId="LiveId" clId="{9A4E38B1-EA7E-481F-9682-EFBB298D9FA0}" dt="2025-12-02T13:22:57.478" v="305" actId="478"/>
          <ac:picMkLst>
            <pc:docMk/>
            <pc:sldMk cId="1168270914" sldId="267"/>
            <ac:picMk id="10" creationId="{B88B7290-800D-0950-5B12-17733A136698}"/>
          </ac:picMkLst>
        </pc:picChg>
        <pc:picChg chg="add mod">
          <ac:chgData name="Reshma Sk" userId="9dece501a0db5be2" providerId="LiveId" clId="{9A4E38B1-EA7E-481F-9682-EFBB298D9FA0}" dt="2025-12-02T13:23:18.397" v="308" actId="14100"/>
          <ac:picMkLst>
            <pc:docMk/>
            <pc:sldMk cId="1168270914" sldId="267"/>
            <ac:picMk id="12" creationId="{B6609508-E5A6-EC62-6C0C-5A56664CB25E}"/>
          </ac:picMkLst>
        </pc:picChg>
      </pc:sldChg>
      <pc:sldChg chg="modSp mod">
        <pc:chgData name="Reshma Sk" userId="9dece501a0db5be2" providerId="LiveId" clId="{9A4E38B1-EA7E-481F-9682-EFBB298D9FA0}" dt="2025-12-02T12:36:55.432" v="7" actId="14100"/>
        <pc:sldMkLst>
          <pc:docMk/>
          <pc:sldMk cId="438913368" sldId="274"/>
        </pc:sldMkLst>
        <pc:spChg chg="mod">
          <ac:chgData name="Reshma Sk" userId="9dece501a0db5be2" providerId="LiveId" clId="{9A4E38B1-EA7E-481F-9682-EFBB298D9FA0}" dt="2025-12-02T12:36:55.432" v="7" actId="14100"/>
          <ac:spMkLst>
            <pc:docMk/>
            <pc:sldMk cId="438913368" sldId="274"/>
            <ac:spMk id="2" creationId="{E55BC011-40EA-556A-F336-D60219FE054A}"/>
          </ac:spMkLst>
        </pc:spChg>
        <pc:spChg chg="mod">
          <ac:chgData name="Reshma Sk" userId="9dece501a0db5be2" providerId="LiveId" clId="{9A4E38B1-EA7E-481F-9682-EFBB298D9FA0}" dt="2025-12-02T12:36:48.279" v="5" actId="1076"/>
          <ac:spMkLst>
            <pc:docMk/>
            <pc:sldMk cId="438913368" sldId="274"/>
            <ac:spMk id="3" creationId="{C4A690B6-B26C-54BB-C373-7EC3960E67D7}"/>
          </ac:spMkLst>
        </pc:spChg>
      </pc:sldChg>
      <pc:sldChg chg="modSp new mod">
        <pc:chgData name="Reshma Sk" userId="9dece501a0db5be2" providerId="LiveId" clId="{9A4E38B1-EA7E-481F-9682-EFBB298D9FA0}" dt="2025-12-02T12:53:04.144" v="38" actId="12"/>
        <pc:sldMkLst>
          <pc:docMk/>
          <pc:sldMk cId="3106953378" sldId="275"/>
        </pc:sldMkLst>
        <pc:spChg chg="mod">
          <ac:chgData name="Reshma Sk" userId="9dece501a0db5be2" providerId="LiveId" clId="{9A4E38B1-EA7E-481F-9682-EFBB298D9FA0}" dt="2025-12-02T12:47:48.467" v="21" actId="207"/>
          <ac:spMkLst>
            <pc:docMk/>
            <pc:sldMk cId="3106953378" sldId="275"/>
            <ac:spMk id="2" creationId="{248A8DCA-C040-C321-506C-0A51EFA0C03F}"/>
          </ac:spMkLst>
        </pc:spChg>
        <pc:spChg chg="mod">
          <ac:chgData name="Reshma Sk" userId="9dece501a0db5be2" providerId="LiveId" clId="{9A4E38B1-EA7E-481F-9682-EFBB298D9FA0}" dt="2025-12-02T12:53:04.144" v="38" actId="12"/>
          <ac:spMkLst>
            <pc:docMk/>
            <pc:sldMk cId="3106953378" sldId="275"/>
            <ac:spMk id="3" creationId="{732B7909-6C13-6C8D-D493-B2A5219E6416}"/>
          </ac:spMkLst>
        </pc:spChg>
      </pc:sldChg>
      <pc:sldChg chg="addSp delSp modSp new del mod">
        <pc:chgData name="Reshma Sk" userId="9dece501a0db5be2" providerId="LiveId" clId="{9A4E38B1-EA7E-481F-9682-EFBB298D9FA0}" dt="2025-12-02T12:55:23.815" v="48" actId="47"/>
        <pc:sldMkLst>
          <pc:docMk/>
          <pc:sldMk cId="17430671" sldId="276"/>
        </pc:sldMkLst>
        <pc:spChg chg="del mod">
          <ac:chgData name="Reshma Sk" userId="9dece501a0db5be2" providerId="LiveId" clId="{9A4E38B1-EA7E-481F-9682-EFBB298D9FA0}" dt="2025-12-02T12:54:06.399" v="45" actId="21"/>
          <ac:spMkLst>
            <pc:docMk/>
            <pc:sldMk cId="17430671" sldId="276"/>
            <ac:spMk id="2" creationId="{E22CF8F7-6D6B-4C84-7FC5-7A8402A12B07}"/>
          </ac:spMkLst>
        </pc:spChg>
        <pc:spChg chg="mod">
          <ac:chgData name="Reshma Sk" userId="9dece501a0db5be2" providerId="LiveId" clId="{9A4E38B1-EA7E-481F-9682-EFBB298D9FA0}" dt="2025-12-02T12:54:17.684" v="47" actId="5793"/>
          <ac:spMkLst>
            <pc:docMk/>
            <pc:sldMk cId="17430671" sldId="276"/>
            <ac:spMk id="3" creationId="{32A6FAEC-DA99-6F7F-13E9-CD0D0D60D80D}"/>
          </ac:spMkLst>
        </pc:spChg>
        <pc:spChg chg="add del mod">
          <ac:chgData name="Reshma Sk" userId="9dece501a0db5be2" providerId="LiveId" clId="{9A4E38B1-EA7E-481F-9682-EFBB298D9FA0}" dt="2025-12-02T12:54:14.483" v="46" actId="21"/>
          <ac:spMkLst>
            <pc:docMk/>
            <pc:sldMk cId="17430671" sldId="276"/>
            <ac:spMk id="5" creationId="{193B8D6B-A518-28AC-FCF4-5728E89988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4800" b="1" u="none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WORLDWIDE ENERGY CONSUMPTION ANALYSIS</a:t>
            </a:r>
            <a:endParaRPr sz="4800" b="1" u="none" cap="none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80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1219200" y="1818640"/>
            <a:ext cx="9981280" cy="4451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Project Overview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ER Diagram and schema explanation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Key analysis questions (USE CASES)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SQL query results with summaries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Final Business Insights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Conclusion 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B6148-CBAB-3D3B-02AB-DE65C0105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45688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</a:rPr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668C7-AA70-D8A3-3FEA-546A398B1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10813"/>
            <a:ext cx="10515600" cy="4466150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analyze energy consumption patterns across different time intervals and identify periods of high and low usage.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evaluate which segments - such as appliances, regions, or user groups - contribute most to overall energy consumption.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detect anomalies or unusual spikes in usage that may indicate inefficiencies or abnormal behavior.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convert raw SQL results into meaningful insights that support decision-making for optimizing energy usage and reducing wastage.</a:t>
            </a:r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576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AD812-E3D5-5BB7-5D5E-899F1F5DD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5195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</a:rPr>
              <a:t>ER DIAGRAM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99B57FF-E323-2743-2314-BFE94731CB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99120" y="1727571"/>
            <a:ext cx="371856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One-to-Many from country to      emission_3</a:t>
            </a:r>
          </a:p>
          <a:p>
            <a:pPr marL="285750" marR="0" lvl="0" indent="-2857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One-to-Many from country to consumption</a:t>
            </a:r>
          </a:p>
          <a:p>
            <a:pPr marL="285750" marR="0" lvl="0" indent="-2857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One-to-Many from country to production</a:t>
            </a:r>
          </a:p>
          <a:p>
            <a:pPr marL="285750" marR="0" lvl="0" indent="-2857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One-to-Many from country to gdp_3</a:t>
            </a:r>
          </a:p>
          <a:p>
            <a:pPr marL="285750" marR="0" lvl="0" indent="-2857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One-to-Many from country to population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diagram of a data flow&#10;&#10;AI-generated content may be incorrect.">
            <a:extLst>
              <a:ext uri="{FF2B5EF4-FFF2-40B4-BE49-F238E27FC236}">
                <a16:creationId xmlns:a16="http://schemas.microsoft.com/office/drawing/2014/main" id="{63AF8117-2FBE-53DB-CEBF-18867E712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35" y="1469043"/>
            <a:ext cx="7570885" cy="507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886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50C0-4DBC-44F0-D420-49EB7DD3B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136"/>
            <a:ext cx="10515600" cy="99155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</a:rPr>
              <a:t>TABLES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60A72-5489-E7AE-C06F-DE0A13AE8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12240"/>
            <a:ext cx="10515600" cy="4764723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IN" sz="2000" b="1" dirty="0"/>
              <a:t>     </a:t>
            </a:r>
            <a:r>
              <a:rPr lang="en-IN" sz="1800" b="1" dirty="0"/>
              <a:t>1. COUNTRY 					2. EMISSION_3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C36D99-AE7B-A5D0-69B7-A90E8E505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41208"/>
            <a:ext cx="2509014" cy="3054032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BD550A-3060-F40C-1608-289D5DA60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586" y="2041208"/>
            <a:ext cx="7411214" cy="305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32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60C7C-DF70-D866-0412-2FD0E65B7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321944"/>
            <a:ext cx="11465560" cy="5824855"/>
          </a:xfrm>
        </p:spPr>
        <p:txBody>
          <a:bodyPr/>
          <a:lstStyle/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7" name="Picture 6" descr="A screenshot of a data&#10;&#10;AI-generated content may be incorrect.">
            <a:extLst>
              <a:ext uri="{FF2B5EF4-FFF2-40B4-BE49-F238E27FC236}">
                <a16:creationId xmlns:a16="http://schemas.microsoft.com/office/drawing/2014/main" id="{90258DC9-425C-9E69-00A4-CB7DDD313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077" y="971262"/>
            <a:ext cx="2657846" cy="21053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EC0232-E05F-02F9-FC48-260D175CB5A8}"/>
              </a:ext>
            </a:extLst>
          </p:cNvPr>
          <p:cNvSpPr txBox="1"/>
          <p:nvPr/>
        </p:nvSpPr>
        <p:spPr>
          <a:xfrm>
            <a:off x="1706017" y="461937"/>
            <a:ext cx="168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POPULATION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20C870-5CEB-B51D-9F96-2B57001D2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399" y="971262"/>
            <a:ext cx="4029637" cy="20072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CBFEDA-D606-56EB-AA62-E82A63E41813}"/>
              </a:ext>
            </a:extLst>
          </p:cNvPr>
          <p:cNvSpPr txBox="1"/>
          <p:nvPr/>
        </p:nvSpPr>
        <p:spPr>
          <a:xfrm>
            <a:off x="6428826" y="462136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PRODUCTION</a:t>
            </a:r>
          </a:p>
        </p:txBody>
      </p:sp>
      <p:pic>
        <p:nvPicPr>
          <p:cNvPr id="13" name="Picture 12" descr="A screenshot of a data&#10;&#10;AI-generated content may be incorrect.">
            <a:extLst>
              <a:ext uri="{FF2B5EF4-FFF2-40B4-BE49-F238E27FC236}">
                <a16:creationId xmlns:a16="http://schemas.microsoft.com/office/drawing/2014/main" id="{2DA166FD-A3B2-020B-9CE1-00124CC88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5077" y="3659859"/>
            <a:ext cx="2676899" cy="23625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584D98F-530F-E21B-0DD5-3CE3646AED01}"/>
              </a:ext>
            </a:extLst>
          </p:cNvPr>
          <p:cNvSpPr txBox="1"/>
          <p:nvPr/>
        </p:nvSpPr>
        <p:spPr>
          <a:xfrm>
            <a:off x="2261642" y="3290527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GDP_3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B1F2A3F-2FBE-1D06-8602-99E3C37681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477" y="3659859"/>
            <a:ext cx="4153480" cy="236253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3963424-4E7E-6231-A950-2DA2C3A06295}"/>
              </a:ext>
            </a:extLst>
          </p:cNvPr>
          <p:cNvSpPr txBox="1"/>
          <p:nvPr/>
        </p:nvSpPr>
        <p:spPr>
          <a:xfrm>
            <a:off x="6550334" y="3290527"/>
            <a:ext cx="1912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CONSUMPTION</a:t>
            </a:r>
          </a:p>
        </p:txBody>
      </p:sp>
    </p:spTree>
    <p:extLst>
      <p:ext uri="{BB962C8B-B14F-4D97-AF65-F5344CB8AC3E}">
        <p14:creationId xmlns:p14="http://schemas.microsoft.com/office/powerpoint/2010/main" val="2987851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CF2DD-31BB-528C-93CF-E7A5032A8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2635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</a:rPr>
              <a:t>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7BA3F-AA24-CA65-0EE2-1FD481D52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27760"/>
            <a:ext cx="10515600" cy="504920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What are the top 5 countries by GDP in the most recent year?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4EC1C-E447-D5E0-732C-301259363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880" y="3123989"/>
            <a:ext cx="4910397" cy="17774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443EBD-6F30-3DD0-4760-8435EDC9A8D2}"/>
              </a:ext>
            </a:extLst>
          </p:cNvPr>
          <p:cNvSpPr txBox="1"/>
          <p:nvPr/>
        </p:nvSpPr>
        <p:spPr>
          <a:xfrm>
            <a:off x="8068598" y="2421462"/>
            <a:ext cx="1798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D043EE-6053-96E2-3BDA-01E969283B97}"/>
              </a:ext>
            </a:extLst>
          </p:cNvPr>
          <p:cNvSpPr txBox="1"/>
          <p:nvPr/>
        </p:nvSpPr>
        <p:spPr>
          <a:xfrm>
            <a:off x="1504083" y="2421462"/>
            <a:ext cx="1798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</a:p>
        </p:txBody>
      </p:sp>
      <p:pic>
        <p:nvPicPr>
          <p:cNvPr id="10" name="Picture 9" descr="A white background with blue text&#10;&#10;AI-generated content may be incorrect.">
            <a:extLst>
              <a:ext uri="{FF2B5EF4-FFF2-40B4-BE49-F238E27FC236}">
                <a16:creationId xmlns:a16="http://schemas.microsoft.com/office/drawing/2014/main" id="{B0981BBC-0760-B6DC-21D3-491A832E0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723" y="2916458"/>
            <a:ext cx="4287117" cy="165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734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18E4B-9AA3-6877-99A4-6CD6586B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4720"/>
            <a:ext cx="10515600" cy="755968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Which energy types contribute most to emissions across all countries ?</a:t>
            </a:r>
            <a:endParaRPr lang="en-IN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D8138-3B3D-9A63-60DB-3BD0483A4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59279"/>
            <a:ext cx="10515600" cy="431768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000" b="1" dirty="0"/>
              <a:t>	          QUERY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5C2A33-7A88-EB1B-9E1D-22DD38C1B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0767" y="3545840"/>
            <a:ext cx="5154586" cy="17322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141FFC-1FCA-6703-828F-37B4DB70BA91}"/>
              </a:ext>
            </a:extLst>
          </p:cNvPr>
          <p:cNvSpPr txBox="1"/>
          <p:nvPr/>
        </p:nvSpPr>
        <p:spPr>
          <a:xfrm>
            <a:off x="7509694" y="3145730"/>
            <a:ext cx="10807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609508-E5A6-EC62-6C0C-5A56664CB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507" y="3012365"/>
            <a:ext cx="4410691" cy="145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70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BA79-5DE8-3877-C1D4-239A7CECE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579120"/>
            <a:ext cx="11120120" cy="103632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2800" b="1" dirty="0"/>
              <a:t>How has population growth affected total emissions in each country ?</a:t>
            </a:r>
            <a:endParaRPr lang="en-IN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E80B3-4080-ED83-38A9-764DED7E5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000" b="1" dirty="0"/>
              <a:t>	              QUERY</a:t>
            </a:r>
          </a:p>
          <a:p>
            <a:pPr marL="114300" indent="0">
              <a:buNone/>
            </a:pPr>
            <a:endParaRPr lang="en-IN" sz="2000" b="1" dirty="0"/>
          </a:p>
          <a:p>
            <a:pPr marL="114300" indent="0">
              <a:buNone/>
            </a:pPr>
            <a:endParaRPr lang="en-IN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E93567-B8CF-2586-7463-72EA9FA4E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454800"/>
            <a:ext cx="5430519" cy="21171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DAF82A-6D47-D940-69F1-0DC0C88E20F4}"/>
              </a:ext>
            </a:extLst>
          </p:cNvPr>
          <p:cNvSpPr txBox="1"/>
          <p:nvPr/>
        </p:nvSpPr>
        <p:spPr>
          <a:xfrm>
            <a:off x="7975600" y="1825625"/>
            <a:ext cx="10807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</a:p>
        </p:txBody>
      </p:sp>
      <p:pic>
        <p:nvPicPr>
          <p:cNvPr id="8" name="Picture 7" descr="A screenshot of a data&#10;&#10;AI-generated content may be incorrect.">
            <a:extLst>
              <a:ext uri="{FF2B5EF4-FFF2-40B4-BE49-F238E27FC236}">
                <a16:creationId xmlns:a16="http://schemas.microsoft.com/office/drawing/2014/main" id="{0128AC73-54B9-52C9-18EC-2B9583DD3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605" y="2454800"/>
            <a:ext cx="4153480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105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589D-5785-E1D3-1051-87402E7C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8239"/>
            <a:ext cx="10515600" cy="667385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2800" b="1" dirty="0"/>
              <a:t>What is the global share (%) of emissions by country?</a:t>
            </a:r>
            <a:br>
              <a:rPr lang="en-US" sz="2800" dirty="0"/>
            </a:br>
            <a:br>
              <a:rPr lang="en-US" sz="2800" dirty="0"/>
            </a:br>
            <a:endParaRPr lang="en-IN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9171C-7880-2B12-729E-2EBA34A42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000" b="1" dirty="0"/>
              <a:t>			</a:t>
            </a:r>
          </a:p>
          <a:p>
            <a:pPr marL="114300" indent="0">
              <a:buNone/>
            </a:pPr>
            <a:r>
              <a:rPr lang="en-IN" sz="2000" b="1" dirty="0"/>
              <a:t>		QUERY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815735-7771-7556-8805-B2BA81E71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000" y="3020778"/>
            <a:ext cx="3791479" cy="2505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960D2D-A6D6-2E86-E220-458D2A0952D0}"/>
              </a:ext>
            </a:extLst>
          </p:cNvPr>
          <p:cNvSpPr txBox="1"/>
          <p:nvPr/>
        </p:nvSpPr>
        <p:spPr>
          <a:xfrm>
            <a:off x="8738777" y="2367095"/>
            <a:ext cx="10807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EB3BBE-9508-64F8-9B4E-D38E15F99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701" y="2767205"/>
            <a:ext cx="6077798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449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EC469-E363-57C3-318F-B63AC14D8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2800" b="1" dirty="0"/>
              <a:t>Global average GDP, emission, and population by year</a:t>
            </a:r>
            <a:endParaRPr lang="en-IN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9CE9A-51A8-6E38-FAA5-583F847C8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000" b="1" dirty="0"/>
              <a:t>	     QUERY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678FAF-2160-E84E-E0D8-E776304F4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181" y="2543765"/>
            <a:ext cx="4391638" cy="29150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3F68C3-3402-4775-04A1-D1DEA0746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182" y="3429713"/>
            <a:ext cx="4267796" cy="1143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1A2784-4199-9F53-3171-BF6AA812CDF7}"/>
              </a:ext>
            </a:extLst>
          </p:cNvPr>
          <p:cNvSpPr txBox="1"/>
          <p:nvPr/>
        </p:nvSpPr>
        <p:spPr>
          <a:xfrm>
            <a:off x="8331200" y="2762080"/>
            <a:ext cx="10807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274612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25467-B1F6-947C-FDCA-694F67A64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2800" b="1" dirty="0"/>
              <a:t>Countries with highest energy consumption relative to GDP</a:t>
            </a:r>
            <a:endParaRPr lang="en-IN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3DF61-D717-0369-0AA6-DC522A09A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57051"/>
            <a:ext cx="10835640" cy="463894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IN" sz="2000" b="1" dirty="0"/>
          </a:p>
          <a:p>
            <a:pPr marL="114300" indent="0">
              <a:buNone/>
            </a:pPr>
            <a:r>
              <a:rPr lang="en-IN" sz="2000" b="1" dirty="0"/>
              <a:t>		QUERY						 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F68A31-91F9-D577-8CD6-8A28B2BD7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058" y="2782614"/>
            <a:ext cx="5001323" cy="2095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5A3452-3BD1-96CD-8E1D-CC7DF168F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721" y="2782614"/>
            <a:ext cx="3486637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64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FA2FA-0822-479B-4080-FDAB9D2AF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2800" b="1" dirty="0"/>
              <a:t>Emission-to-GDP ratio per country by year</a:t>
            </a:r>
            <a:endParaRPr lang="en-IN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37C9A-A459-CCD6-6AC4-F24C5DD2D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1317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000" dirty="0"/>
              <a:t>		</a:t>
            </a:r>
            <a:r>
              <a:rPr lang="en-IN" sz="2000" b="1" dirty="0"/>
              <a:t>QUERY						</a:t>
            </a:r>
          </a:p>
          <a:p>
            <a:pPr marL="114300" indent="0">
              <a:buNone/>
            </a:pPr>
            <a:r>
              <a:rPr lang="en-IN" sz="2000" b="1" dirty="0"/>
              <a:t>								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9CF43B-08F5-7A29-3CD2-B35E9F642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924" y="2951582"/>
            <a:ext cx="3561916" cy="12952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B79F15-BA55-0864-2AB5-288CE9D31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499" y="2779579"/>
            <a:ext cx="4877481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672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BC011-40EA-556A-F336-D60219FE0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10515600" cy="762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FINAL BUSINESS INSIGHTS </a:t>
            </a:r>
            <a:br>
              <a:rPr lang="en-US" sz="4000" dirty="0"/>
            </a:br>
            <a:endParaRPr lang="en-IN" sz="40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690B6-B26C-54BB-C373-7EC3960E6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20" y="1178561"/>
            <a:ext cx="10515600" cy="48260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/>
              <a:t>1. Economic Growth Drives Energy Demand</a:t>
            </a:r>
          </a:p>
          <a:p>
            <a:pPr marL="114300" indent="0">
              <a:buNone/>
            </a:pPr>
            <a:r>
              <a:rPr lang="en-US" sz="2000" dirty="0"/>
              <a:t>Countries with higher GDP consistently show higher energy consumption and emissions, indicating that economic expansion is closely tied to energy dependence.</a:t>
            </a:r>
          </a:p>
          <a:p>
            <a:pPr marL="114300" indent="0">
              <a:buNone/>
            </a:pPr>
            <a:r>
              <a:rPr lang="en-US" sz="2400" b="1" dirty="0"/>
              <a:t>2. Global Emissions Continue to Rise</a:t>
            </a:r>
          </a:p>
          <a:p>
            <a:pPr marL="114300" indent="0">
              <a:buNone/>
            </a:pPr>
            <a:r>
              <a:rPr lang="en-US" sz="2000" dirty="0"/>
              <a:t>Year-over-year trends reveal a steady increase in global emissions, highlighting the growing environmental burden across major economies.</a:t>
            </a:r>
          </a:p>
          <a:p>
            <a:pPr marL="114300" indent="0">
              <a:buNone/>
            </a:pPr>
            <a:r>
              <a:rPr lang="en-US" sz="2400" b="1" dirty="0"/>
              <a:t>3. Fossil Fuels Dominate Emission Contribution</a:t>
            </a:r>
          </a:p>
          <a:p>
            <a:pPr marL="114300" indent="0">
              <a:buNone/>
            </a:pPr>
            <a:r>
              <a:rPr lang="en-US" sz="2000" dirty="0"/>
              <a:t>Coal and oil-based energy types contribute the highest share of emissions, making them the major drivers of global carbon output.</a:t>
            </a:r>
          </a:p>
          <a:p>
            <a:pPr marL="114300" indent="0">
              <a:buNone/>
            </a:pPr>
            <a:r>
              <a:rPr lang="en-US" sz="2400" b="1" dirty="0"/>
              <a:t>4. Population Growth Directly Influences Emissions</a:t>
            </a:r>
          </a:p>
          <a:p>
            <a:pPr marL="114300" indent="0">
              <a:buNone/>
            </a:pPr>
            <a:r>
              <a:rPr lang="en-US" sz="2000" dirty="0"/>
              <a:t>Countries with rapidly increasing populations show corresponding rises in total emissions, reinforcing the link between demographic expansion and environmental impact.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8913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A8DCA-C040-C321-506C-0A51EFA0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B7909-6C13-6C8D-D493-B2A5219E6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Economic growth, population growth, and energy use are causing emissions to rise, so countries need to plan sustainably. </a:t>
            </a:r>
          </a:p>
          <a:p>
            <a:pPr algn="just"/>
            <a:r>
              <a:rPr lang="en-US" sz="2400" dirty="0"/>
              <a:t>Big economies have a major role in moving to cleaner energy. </a:t>
            </a:r>
          </a:p>
          <a:p>
            <a:pPr algn="just"/>
            <a:r>
              <a:rPr lang="en-US" sz="2400" dirty="0"/>
              <a:t>Energy demand is increasing everywhere, so efficient use and balanced production are important. </a:t>
            </a:r>
          </a:p>
          <a:p>
            <a:pPr algn="just"/>
            <a:r>
              <a:rPr lang="en-US" sz="2400" dirty="0"/>
              <a:t>Different countries emit differently because of lifestyles and resources. </a:t>
            </a:r>
          </a:p>
          <a:p>
            <a:pPr algn="just"/>
            <a:r>
              <a:rPr lang="en-US" sz="2400" dirty="0"/>
              <a:t>To ensure long-term environmental and economic stability, reducing emissions and using more renewable energy is essential.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106953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497</Words>
  <Application>Microsoft Office PowerPoint</Application>
  <PresentationFormat>Widescreen</PresentationFormat>
  <Paragraphs>70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Wingdings</vt:lpstr>
      <vt:lpstr>Arial</vt:lpstr>
      <vt:lpstr>Libre Baskerville</vt:lpstr>
      <vt:lpstr>Office Theme</vt:lpstr>
      <vt:lpstr>PowerPoint Presentation</vt:lpstr>
      <vt:lpstr>Agenda</vt:lpstr>
      <vt:lpstr>PROJECT OVERVIEW</vt:lpstr>
      <vt:lpstr>ER DIAGRAM</vt:lpstr>
      <vt:lpstr>TABLES</vt:lpstr>
      <vt:lpstr>PowerPoint Presentation</vt:lpstr>
      <vt:lpstr>USE CASES</vt:lpstr>
      <vt:lpstr>Which energy types contribute most to emissions across all countries ?</vt:lpstr>
      <vt:lpstr>How has population growth affected total emissions in each country ?</vt:lpstr>
      <vt:lpstr>What is the global share (%) of emissions by country?  </vt:lpstr>
      <vt:lpstr>Global average GDP, emission, and population by year</vt:lpstr>
      <vt:lpstr>Countries with highest energy consumption relative to GDP</vt:lpstr>
      <vt:lpstr>Emission-to-GDP ratio per country by year</vt:lpstr>
      <vt:lpstr>FINAL BUSINESS INSIGHTS 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Reshma Sk</cp:lastModifiedBy>
  <cp:revision>1</cp:revision>
  <dcterms:created xsi:type="dcterms:W3CDTF">2021-02-16T05:19:01Z</dcterms:created>
  <dcterms:modified xsi:type="dcterms:W3CDTF">2025-12-02T13:23:25Z</dcterms:modified>
</cp:coreProperties>
</file>